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49158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31388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13618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8078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0307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2537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74320"/>
            <a:ext cx="384048" cy="384048"/>
          </a:xfrm>
          <a:prstGeom prst="ellipse">
            <a:avLst/>
          </a:prstGeom>
          <a:ln w="19050">
            <a:solidFill>
              <a:srgbClr val="BFF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56032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2286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15807" y="31089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F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 Brief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896112"/>
            <a:ext cx="256032" cy="0"/>
          </a:xfrm>
          <a:prstGeom prst="line">
            <a:avLst/>
          </a:prstGeom>
          <a:noFill/>
          <a:ln w="19050">
            <a:solidFill>
              <a:srgbClr val="BFF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BF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 BRIEF · AI AGENT ASSURANCE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11155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your AI agents are </a:t>
            </a:r>
            <a:pPr indent="0" marL="0">
              <a:lnSpc>
                <a:spcPts val="3400"/>
              </a:lnSpc>
              <a:buNone/>
            </a:pPr>
            <a:r>
              <a:rPr lang="en-US" sz="3300" i="1" dirty="0">
                <a:solidFill>
                  <a:srgbClr val="BF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to ship.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566928" y="1938528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3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stress-tests every agent, scores it across six trust pillars, issues a clear go / no-go deploy verdict, monitors it in production, and closes the loop with human-approved fixes — turning “we think it’s fine” into defensible evidence.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2670048"/>
            <a:ext cx="3703320" cy="1517904"/>
          </a:xfrm>
          <a:prstGeom prst="roundRect">
            <a:avLst>
              <a:gd name="adj" fmla="val 4819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670048"/>
            <a:ext cx="50292" cy="1517904"/>
          </a:xfrm>
          <a:prstGeom prst="roundRect">
            <a:avLst>
              <a:gd name="adj" fmla="val 54545"/>
            </a:avLst>
          </a:prstGeom>
          <a:solidFill>
            <a:srgbClr val="FF6E5B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279806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FF6E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68096" y="2999232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Shipping what you can’t vouch for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68096" y="3346704"/>
            <a:ext cx="33192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6E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3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surface in public, not in review.
</a:t>
            </a:r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6E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3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can’t scale to every agent &amp; version.
</a:t>
            </a:r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6E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3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defensible “go / no-go”, no audit trail.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98848" y="2670048"/>
            <a:ext cx="7125919" cy="1517904"/>
          </a:xfrm>
          <a:prstGeom prst="roundRect">
            <a:avLst>
              <a:gd name="adj" fmla="val 4819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98848" y="2670048"/>
            <a:ext cx="50292" cy="1517904"/>
          </a:xfrm>
          <a:prstGeom prst="roundRect">
            <a:avLst>
              <a:gd name="adj" fmla="val 54545"/>
            </a:avLst>
          </a:prstGeom>
          <a:solidFill>
            <a:srgbClr val="BFF04A"/>
          </a:solidFill>
          <a:ln/>
        </p:spPr>
      </p:sp>
      <p:sp>
        <p:nvSpPr>
          <p:cNvPr id="24" name="Text 22"/>
          <p:cNvSpPr/>
          <p:nvPr/>
        </p:nvSpPr>
        <p:spPr>
          <a:xfrm>
            <a:off x="4700016" y="2798064"/>
            <a:ext cx="67601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BF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00016" y="2999232"/>
            <a:ext cx="67601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 that makes trust measurable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700016" y="3383280"/>
            <a:ext cx="1571168" cy="676656"/>
          </a:xfrm>
          <a:prstGeom prst="roundRect">
            <a:avLst>
              <a:gd name="adj" fmla="val 6757"/>
            </a:avLst>
          </a:prstGeom>
          <a:solidFill>
            <a:srgbClr val="0C0E12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3438144"/>
            <a:ext cx="1388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F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91456" y="3566160"/>
            <a:ext cx="1388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Stress-test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91456" y="3749040"/>
            <a:ext cx="1388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users probe the agent at machine scale.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17488" y="3383280"/>
            <a:ext cx="1571168" cy="676656"/>
          </a:xfrm>
          <a:prstGeom prst="roundRect">
            <a:avLst>
              <a:gd name="adj" fmla="val 6757"/>
            </a:avLst>
          </a:prstGeom>
          <a:solidFill>
            <a:srgbClr val="0C0E12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8928" y="3438144"/>
            <a:ext cx="1388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F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08928" y="3566160"/>
            <a:ext cx="1388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&amp; gate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08928" y="3749040"/>
            <a:ext cx="1388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grade every answer into one verdict.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134960" y="3383280"/>
            <a:ext cx="1571168" cy="676656"/>
          </a:xfrm>
          <a:prstGeom prst="roundRect">
            <a:avLst>
              <a:gd name="adj" fmla="val 6757"/>
            </a:avLst>
          </a:prstGeom>
          <a:solidFill>
            <a:srgbClr val="0C0E12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6400" y="3438144"/>
            <a:ext cx="1388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F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6400" y="3566160"/>
            <a:ext cx="1388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6400" y="3749040"/>
            <a:ext cx="1388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quality, spend &amp; drift in production.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852431" y="3383280"/>
            <a:ext cx="1571168" cy="676656"/>
          </a:xfrm>
          <a:prstGeom prst="roundRect">
            <a:avLst>
              <a:gd name="adj" fmla="val 6757"/>
            </a:avLst>
          </a:prstGeom>
          <a:solidFill>
            <a:srgbClr val="0C0E12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43871" y="3438144"/>
            <a:ext cx="1388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F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943871" y="3566160"/>
            <a:ext cx="1388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Self-heal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943871" y="3749040"/>
            <a:ext cx="1388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 breach, propose a fix, approve.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4370832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" y="448056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 · ONE REPEATABLE PIPELINE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22960" y="4736592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0C0E12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476402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F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buNone/>
            </a:pPr>
            <a:r>
              <a:rPr lang="en-US" sz="11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32688" y="493776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tests it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304288" y="4782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615184" y="4736592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0C0E12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24912" y="476402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F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1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724912" y="493776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scenarios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96512" y="4782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407408" y="4736592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0C0E12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17136" y="476402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F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1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517136" y="493776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agent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888736" y="4782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199632" y="4736592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0C0E12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476402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F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1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309360" y="493776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 scores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680960" y="4782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991856" y="4736592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0C0E12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01584" y="476402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F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indent="0" marL="0">
              <a:buNone/>
            </a:pPr>
            <a:r>
              <a:rPr lang="en-US" sz="11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101584" y="493776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+ gate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765792" y="4754880"/>
            <a:ext cx="1417320" cy="347472"/>
          </a:xfrm>
          <a:prstGeom prst="roundRect">
            <a:avLst>
              <a:gd name="adj" fmla="val 50000"/>
            </a:avLst>
          </a:prstGeom>
          <a:ln w="12700">
            <a:solidFill>
              <a:srgbClr val="E7B4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65792" y="478231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E7B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 CONTINUOUS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66928" y="5358384"/>
            <a:ext cx="6126480" cy="896112"/>
          </a:xfrm>
          <a:prstGeom prst="roundRect">
            <a:avLst>
              <a:gd name="adj" fmla="val 8163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8096" y="5449824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68096" y="5705856"/>
            <a:ext cx="0" cy="457200"/>
          </a:xfrm>
          <a:prstGeom prst="line">
            <a:avLst/>
          </a:prstGeom>
          <a:noFill/>
          <a:ln w="25400">
            <a:solidFill>
              <a:srgbClr val="BFF0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9536" y="5687568"/>
            <a:ext cx="12435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with confidence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2231136" y="5705856"/>
            <a:ext cx="0" cy="457200"/>
          </a:xfrm>
          <a:prstGeom prst="line">
            <a:avLst/>
          </a:prstGeom>
          <a:noFill/>
          <a:ln w="25400">
            <a:solidFill>
              <a:srgbClr val="FF6E5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322576" y="5687568"/>
            <a:ext cx="12435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risk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3694176" y="5705856"/>
            <a:ext cx="0" cy="457200"/>
          </a:xfrm>
          <a:prstGeom prst="line">
            <a:avLst/>
          </a:prstGeom>
          <a:noFill/>
          <a:ln w="25400">
            <a:solidFill>
              <a:srgbClr val="E7B45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85616" y="5687568"/>
            <a:ext cx="12435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audit-ready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5157216" y="5705856"/>
            <a:ext cx="0" cy="457200"/>
          </a:xfrm>
          <a:prstGeom prst="line">
            <a:avLst/>
          </a:prstGeom>
          <a:noFill/>
          <a:ln w="25400">
            <a:solidFill>
              <a:srgbClr val="7EC8E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48656" y="5687568"/>
            <a:ext cx="12435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cost of trust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6922008" y="5358384"/>
            <a:ext cx="4702759" cy="896112"/>
          </a:xfrm>
          <a:prstGeom prst="roundRect">
            <a:avLst>
              <a:gd name="adj" fmla="val 8163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22008" y="5358384"/>
            <a:ext cx="50292" cy="896112"/>
          </a:xfrm>
          <a:prstGeom prst="roundRect">
            <a:avLst>
              <a:gd name="adj" fmla="val 54545"/>
            </a:avLst>
          </a:prstGeom>
          <a:solidFill>
            <a:srgbClr val="7EC8E3"/>
          </a:solidFill>
          <a:ln/>
        </p:spPr>
      </p:sp>
      <p:sp>
        <p:nvSpPr>
          <p:cNvPr id="77" name="Text 75"/>
          <p:cNvSpPr/>
          <p:nvPr/>
        </p:nvSpPr>
        <p:spPr>
          <a:xfrm>
            <a:off x="7104888" y="5449824"/>
            <a:ext cx="433699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COMPETITIVE EDGE · ONLY CLOSED LOOP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339328" y="566928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9070848" y="566928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9802368" y="566928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104888" y="5815584"/>
            <a:ext cx="12801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3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339328" y="5815584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9070848" y="5815584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9802368" y="5815584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104888" y="5916168"/>
            <a:ext cx="12801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3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eval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8339328" y="5916168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F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9070848" y="5916168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9802368" y="5916168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7104888" y="6016752"/>
            <a:ext cx="12801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3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obs.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8339328" y="6016752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070848" y="6016752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F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9802368" y="6016752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104888" y="6117336"/>
            <a:ext cx="12801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3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339328" y="6117336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F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9070848" y="6117336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F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9802368" y="6117336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F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12700">
            <a:solidFill>
              <a:srgbClr val="2A2F3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66928" y="635508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Trust, measured.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6138367" y="6373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VERITY · EVALUATION · OBSERVABILITY · SELF-HEAL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49158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31388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13618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8078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0307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2537" y="822960"/>
            <a:ext cx="0" cy="5394960"/>
          </a:xfrm>
          <a:prstGeom prst="line">
            <a:avLst/>
          </a:prstGeom>
          <a:noFill/>
          <a:ln w="6350">
            <a:solidFill>
              <a:srgbClr val="2A2F38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74320"/>
            <a:ext cx="384048" cy="384048"/>
          </a:xfrm>
          <a:prstGeom prst="ellipse">
            <a:avLst/>
          </a:prstGeom>
          <a:ln w="19050">
            <a:solidFill>
              <a:srgbClr val="7EC8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56032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EC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2286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15807" y="31089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Overview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896112"/>
            <a:ext cx="256032" cy="0"/>
          </a:xfrm>
          <a:prstGeom prst="line">
            <a:avLst/>
          </a:prstGeom>
          <a:noFill/>
          <a:ln w="19050">
            <a:solidFill>
              <a:srgbClr val="7EC8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OVERVIEW · HIGH-LEVEL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11155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platform </a:t>
            </a:r>
            <a:pPr indent="0" marL="0">
              <a:lnSpc>
                <a:spcPts val="3400"/>
              </a:lnSpc>
              <a:buNone/>
            </a:pPr>
            <a:r>
              <a:rPr lang="en-US" sz="3300" i="1" dirty="0">
                <a:solidFill>
                  <a:srgbClr val="7EC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works.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566928" y="19385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3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pipeline behind one secure API edge, with real agent telemetry and a closed remediation loop — the same code from a laptop to full production, no rewrite.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246888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AT A GLANCE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" y="2706624"/>
            <a:ext cx="2613584" cy="822960"/>
          </a:xfrm>
          <a:prstGeom prst="roundRect">
            <a:avLst>
              <a:gd name="adj" fmla="val 8889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706624"/>
            <a:ext cx="50292" cy="822960"/>
          </a:xfrm>
          <a:prstGeom prst="roundRect">
            <a:avLst>
              <a:gd name="adj" fmla="val 54545"/>
            </a:avLst>
          </a:prstGeom>
          <a:solidFill>
            <a:srgbClr val="7EC8E3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2788920"/>
            <a:ext cx="23392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13232" y="2907792"/>
            <a:ext cx="233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3136392"/>
            <a:ext cx="233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the tenant, freezes an immutable job, streams progress.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81680" y="2706624"/>
            <a:ext cx="2613584" cy="822960"/>
          </a:xfrm>
          <a:prstGeom prst="roundRect">
            <a:avLst>
              <a:gd name="adj" fmla="val 8889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1680" y="2706624"/>
            <a:ext cx="50292" cy="822960"/>
          </a:xfrm>
          <a:prstGeom prst="roundRect">
            <a:avLst>
              <a:gd name="adj" fmla="val 54545"/>
            </a:avLst>
          </a:prstGeom>
          <a:solidFill>
            <a:srgbClr val="7EC8E3"/>
          </a:solidFill>
          <a:ln/>
        </p:spPr>
      </p:sp>
      <p:sp>
        <p:nvSpPr>
          <p:cNvPr id="25" name="Text 23"/>
          <p:cNvSpPr/>
          <p:nvPr/>
        </p:nvSpPr>
        <p:spPr>
          <a:xfrm>
            <a:off x="3527984" y="2788920"/>
            <a:ext cx="23392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527984" y="2907792"/>
            <a:ext cx="233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services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7984" y="3136392"/>
            <a:ext cx="233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→ Question → Run → Verdict → Evidence — isolated &amp; scalable.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96432" y="2706624"/>
            <a:ext cx="2613584" cy="822960"/>
          </a:xfrm>
          <a:prstGeom prst="roundRect">
            <a:avLst>
              <a:gd name="adj" fmla="val 8889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6432" y="2706624"/>
            <a:ext cx="50292" cy="822960"/>
          </a:xfrm>
          <a:prstGeom prst="roundRect">
            <a:avLst>
              <a:gd name="adj" fmla="val 54545"/>
            </a:avLst>
          </a:prstGeom>
          <a:solidFill>
            <a:srgbClr val="7EC8E3"/>
          </a:solidFill>
          <a:ln/>
        </p:spPr>
      </p:sp>
      <p:sp>
        <p:nvSpPr>
          <p:cNvPr id="30" name="Text 28"/>
          <p:cNvSpPr/>
          <p:nvPr/>
        </p:nvSpPr>
        <p:spPr>
          <a:xfrm>
            <a:off x="6342736" y="2788920"/>
            <a:ext cx="23392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42736" y="2907792"/>
            <a:ext cx="233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spans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42736" y="3136392"/>
            <a:ext cx="233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an OpenTelemetry / OpenInference span tree per turn.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011183" y="2706624"/>
            <a:ext cx="2613584" cy="822960"/>
          </a:xfrm>
          <a:prstGeom prst="roundRect">
            <a:avLst>
              <a:gd name="adj" fmla="val 8889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11183" y="2706624"/>
            <a:ext cx="50292" cy="822960"/>
          </a:xfrm>
          <a:prstGeom prst="roundRect">
            <a:avLst>
              <a:gd name="adj" fmla="val 54545"/>
            </a:avLst>
          </a:prstGeom>
          <a:solidFill>
            <a:srgbClr val="7EC8E3"/>
          </a:solidFill>
          <a:ln/>
        </p:spPr>
      </p:sp>
      <p:sp>
        <p:nvSpPr>
          <p:cNvPr id="35" name="Text 33"/>
          <p:cNvSpPr/>
          <p:nvPr/>
        </p:nvSpPr>
        <p:spPr>
          <a:xfrm>
            <a:off x="9157487" y="2788920"/>
            <a:ext cx="23392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157487" y="2907792"/>
            <a:ext cx="233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57487" y="3136392"/>
            <a:ext cx="233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juries → six pillars → one go / no-go gate + evidence.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6928" y="362102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· EIGHT SURFACES, ONE LINEAGE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6928" y="3803904"/>
            <a:ext cx="2627300" cy="621792"/>
          </a:xfrm>
          <a:prstGeom prst="roundRect">
            <a:avLst>
              <a:gd name="adj" fmla="val 11765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" y="3877056"/>
            <a:ext cx="23712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94944" y="3986784"/>
            <a:ext cx="23712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Lab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4944" y="4187952"/>
            <a:ext cx="2371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&amp; version the synthetic users that test your agent.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77108" y="3803904"/>
            <a:ext cx="2627300" cy="621792"/>
          </a:xfrm>
          <a:prstGeom prst="roundRect">
            <a:avLst>
              <a:gd name="adj" fmla="val 11765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5124" y="3877056"/>
            <a:ext cx="23712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505124" y="3986784"/>
            <a:ext cx="23712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Gen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505124" y="4187952"/>
            <a:ext cx="2371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hard seed sets with live phase progress.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87288" y="3803904"/>
            <a:ext cx="2627300" cy="621792"/>
          </a:xfrm>
          <a:prstGeom prst="roundRect">
            <a:avLst>
              <a:gd name="adj" fmla="val 11765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15304" y="3877056"/>
            <a:ext cx="23712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315304" y="3986784"/>
            <a:ext cx="23712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15304" y="4187952"/>
            <a:ext cx="2371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real agent through history-grounded multi-turn runs.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997467" y="3803904"/>
            <a:ext cx="2627300" cy="621792"/>
          </a:xfrm>
          <a:prstGeom prst="roundRect">
            <a:avLst>
              <a:gd name="adj" fmla="val 11765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25483" y="3877056"/>
            <a:ext cx="23712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125483" y="3986784"/>
            <a:ext cx="23712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125483" y="4187952"/>
            <a:ext cx="2371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juries score answers &amp; calibrate to a human baseline (κ).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66928" y="4535424"/>
            <a:ext cx="2627300" cy="621792"/>
          </a:xfrm>
          <a:prstGeom prst="roundRect">
            <a:avLst>
              <a:gd name="adj" fmla="val 11765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944" y="4608576"/>
            <a:ext cx="23712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94944" y="4718304"/>
            <a:ext cx="23712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4944" y="4919472"/>
            <a:ext cx="2371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Span-tree traces, quality &amp; spend rollups, monitors.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377108" y="4535424"/>
            <a:ext cx="2627300" cy="621792"/>
          </a:xfrm>
          <a:prstGeom prst="roundRect">
            <a:avLst>
              <a:gd name="adj" fmla="val 11765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05124" y="4608576"/>
            <a:ext cx="23712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505124" y="4718304"/>
            <a:ext cx="23712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Self-Heal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505124" y="4919472"/>
            <a:ext cx="2371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analysis, policy DSL, human-approved fixes.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187288" y="4535424"/>
            <a:ext cx="2627300" cy="621792"/>
          </a:xfrm>
          <a:prstGeom prst="roundRect">
            <a:avLst>
              <a:gd name="adj" fmla="val 11765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15304" y="4608576"/>
            <a:ext cx="23712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315304" y="4718304"/>
            <a:ext cx="23712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Gate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315304" y="4919472"/>
            <a:ext cx="2371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severity-graded verdict per agent version.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997467" y="4535424"/>
            <a:ext cx="2627300" cy="621792"/>
          </a:xfrm>
          <a:prstGeom prst="roundRect">
            <a:avLst>
              <a:gd name="adj" fmla="val 11765"/>
            </a:avLst>
          </a:prstGeom>
          <a:solidFill>
            <a:srgbClr val="161A20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25483" y="4608576"/>
            <a:ext cx="23712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9125483" y="4718304"/>
            <a:ext cx="23712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Packs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9125483" y="4919472"/>
            <a:ext cx="2371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versioned bundles — the audit trail.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66928" y="52303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BENEFITS · ENGINEERED TO BE TRUSTED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66928" y="5440680"/>
            <a:ext cx="0" cy="347472"/>
          </a:xfrm>
          <a:prstGeom prst="line">
            <a:avLst/>
          </a:prstGeom>
          <a:noFill/>
          <a:ln w="25400">
            <a:solidFill>
              <a:srgbClr val="7EC8E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6656" y="5413248"/>
            <a:ext cx="342381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Laptop → production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676656" y="5614416"/>
            <a:ext cx="342381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Zero-infra locally; one switch to real infra.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319930" y="5440680"/>
            <a:ext cx="0" cy="347472"/>
          </a:xfrm>
          <a:prstGeom prst="line">
            <a:avLst/>
          </a:prstGeom>
          <a:noFill/>
          <a:ln w="25400">
            <a:solidFill>
              <a:srgbClr val="BFF0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29658" y="5413248"/>
            <a:ext cx="342381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Provider-agnostic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4429658" y="5614416"/>
            <a:ext cx="342381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fallback chain — no lock-in.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072933" y="5440680"/>
            <a:ext cx="0" cy="347472"/>
          </a:xfrm>
          <a:prstGeom prst="line">
            <a:avLst/>
          </a:prstGeom>
          <a:noFill/>
          <a:ln w="25400">
            <a:solidFill>
              <a:srgbClr val="E7B45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82661" y="5413248"/>
            <a:ext cx="342381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Immutable &amp; versioned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8182661" y="5614416"/>
            <a:ext cx="342381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lineage; replays exactly.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66928" y="5897880"/>
            <a:ext cx="0" cy="347472"/>
          </a:xfrm>
          <a:prstGeom prst="line">
            <a:avLst/>
          </a:prstGeom>
          <a:noFill/>
          <a:ln w="25400">
            <a:solidFill>
              <a:srgbClr val="F3F0E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6656" y="5870448"/>
            <a:ext cx="342381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Idempotent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676656" y="6071616"/>
            <a:ext cx="342381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inputs return the original; redelivery is a no-op.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319930" y="5897880"/>
            <a:ext cx="0" cy="347472"/>
          </a:xfrm>
          <a:prstGeom prst="line">
            <a:avLst/>
          </a:prstGeom>
          <a:noFill/>
          <a:ln w="25400">
            <a:solidFill>
              <a:srgbClr val="FF6E5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29658" y="5870448"/>
            <a:ext cx="342381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Tenant-isolated</a:t>
            </a:r>
            <a:endParaRPr lang="en-US" sz="1150" dirty="0"/>
          </a:p>
        </p:txBody>
      </p:sp>
      <p:sp>
        <p:nvSpPr>
          <p:cNvPr id="86" name="Text 84"/>
          <p:cNvSpPr/>
          <p:nvPr/>
        </p:nvSpPr>
        <p:spPr>
          <a:xfrm>
            <a:off x="4429658" y="6071616"/>
            <a:ext cx="342381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is physical — a partition per tenant.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072933" y="5897880"/>
            <a:ext cx="0" cy="347472"/>
          </a:xfrm>
          <a:prstGeom prst="line">
            <a:avLst/>
          </a:prstGeom>
          <a:noFill/>
          <a:ln w="25400">
            <a:solidFill>
              <a:srgbClr val="7EC8E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82661" y="5870448"/>
            <a:ext cx="342381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Standards-native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8182661" y="6071616"/>
            <a:ext cx="342381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OTel / OpenInference traces.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12700">
            <a:solidFill>
              <a:srgbClr val="2A2F3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66928" y="635508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3F0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code, from proof of concept to production.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6138367" y="6373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B9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 · QUESTION · RUN · VERDICT · EVIDENCE · HEAL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Verity — Executive Pager</dc:title>
  <dc:subject>PptxGenJS Presentation</dc:subject>
  <dc:creator>Verity</dc:creator>
  <cp:lastModifiedBy>Verity</cp:lastModifiedBy>
  <cp:revision>1</cp:revision>
  <dcterms:created xsi:type="dcterms:W3CDTF">2026-07-21T19:17:22Z</dcterms:created>
  <dcterms:modified xsi:type="dcterms:W3CDTF">2026-07-21T19:17:22Z</dcterms:modified>
</cp:coreProperties>
</file>